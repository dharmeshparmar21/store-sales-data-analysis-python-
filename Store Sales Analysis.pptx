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9A8298-4D69-440B-96E9-82E8DB785F22}" v="1" dt="2025-12-03T10:23:17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05" autoAdjust="0"/>
  </p:normalViewPr>
  <p:slideViewPr>
    <p:cSldViewPr snapToGrid="0">
      <p:cViewPr varScale="1">
        <p:scale>
          <a:sx n="95" d="100"/>
          <a:sy n="95" d="100"/>
        </p:scale>
        <p:origin x="39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rmesh Parmar" userId="83e4f60b6bc2a0ac" providerId="LiveId" clId="{0B7D42D0-D656-4EDD-8C6C-6EBBA33862AD}"/>
    <pc:docChg chg="modSld">
      <pc:chgData name="Dharmesh Parmar" userId="83e4f60b6bc2a0ac" providerId="LiveId" clId="{0B7D42D0-D656-4EDD-8C6C-6EBBA33862AD}" dt="2025-12-03T10:23:17.426" v="2" actId="20577"/>
      <pc:docMkLst>
        <pc:docMk/>
      </pc:docMkLst>
      <pc:sldChg chg="modSp mod modAnim">
        <pc:chgData name="Dharmesh Parmar" userId="83e4f60b6bc2a0ac" providerId="LiveId" clId="{0B7D42D0-D656-4EDD-8C6C-6EBBA33862AD}" dt="2025-12-03T10:23:17.426" v="2" actId="20577"/>
        <pc:sldMkLst>
          <pc:docMk/>
          <pc:sldMk cId="25432859" sldId="257"/>
        </pc:sldMkLst>
        <pc:spChg chg="mod">
          <ac:chgData name="Dharmesh Parmar" userId="83e4f60b6bc2a0ac" providerId="LiveId" clId="{0B7D42D0-D656-4EDD-8C6C-6EBBA33862AD}" dt="2025-12-03T10:23:06.540" v="0" actId="14100"/>
          <ac:spMkLst>
            <pc:docMk/>
            <pc:sldMk cId="25432859" sldId="257"/>
            <ac:spMk id="2" creationId="{A870BC7B-E8CD-8FBD-DFC5-186FEB22B2B5}"/>
          </ac:spMkLst>
        </pc:spChg>
        <pc:spChg chg="mod">
          <ac:chgData name="Dharmesh Parmar" userId="83e4f60b6bc2a0ac" providerId="LiveId" clId="{0B7D42D0-D656-4EDD-8C6C-6EBBA33862AD}" dt="2025-12-03T10:23:17.426" v="2" actId="20577"/>
          <ac:spMkLst>
            <pc:docMk/>
            <pc:sldMk cId="25432859" sldId="257"/>
            <ac:spMk id="3" creationId="{43C7DC16-00D4-BE09-65EF-D331713FD26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F8C789-A05C-4ED9-B7F6-63E4230CBC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757608F-D6C7-4010-B5CF-121A0A2BDBA8}">
      <dgm:prSet/>
      <dgm:spPr/>
      <dgm:t>
        <a:bodyPr/>
        <a:lstStyle/>
        <a:p>
          <a:r>
            <a:rPr lang="en-US" dirty="0"/>
            <a:t>1) What is the total amount spent by each age group?</a:t>
          </a:r>
        </a:p>
      </dgm:t>
    </dgm:pt>
    <dgm:pt modelId="{B4CC1D5F-60BF-4FD3-AEDC-3F6182E38578}" type="parTrans" cxnId="{9885DEBF-9687-4844-AD52-B4D3FC220C8E}">
      <dgm:prSet/>
      <dgm:spPr/>
      <dgm:t>
        <a:bodyPr/>
        <a:lstStyle/>
        <a:p>
          <a:endParaRPr lang="en-US"/>
        </a:p>
      </dgm:t>
    </dgm:pt>
    <dgm:pt modelId="{18972CB7-3751-4379-B2C8-A1DE8EFAF4B2}" type="sibTrans" cxnId="{9885DEBF-9687-4844-AD52-B4D3FC220C8E}">
      <dgm:prSet/>
      <dgm:spPr/>
      <dgm:t>
        <a:bodyPr/>
        <a:lstStyle/>
        <a:p>
          <a:endParaRPr lang="en-US"/>
        </a:p>
      </dgm:t>
    </dgm:pt>
    <dgm:pt modelId="{5DC5A49F-2887-4BB3-AF11-5E2C24BD141B}">
      <dgm:prSet/>
      <dgm:spPr/>
      <dgm:t>
        <a:bodyPr/>
        <a:lstStyle/>
        <a:p>
          <a:r>
            <a:rPr lang="en-US"/>
            <a:t>2) What is the distribution of orders based on gender?</a:t>
          </a:r>
        </a:p>
      </dgm:t>
    </dgm:pt>
    <dgm:pt modelId="{6C0AF4E3-4EA4-414B-BC51-E59FD2D0F328}" type="parTrans" cxnId="{90513496-A01C-45C8-9801-86E4ABBA4503}">
      <dgm:prSet/>
      <dgm:spPr/>
      <dgm:t>
        <a:bodyPr/>
        <a:lstStyle/>
        <a:p>
          <a:endParaRPr lang="en-US"/>
        </a:p>
      </dgm:t>
    </dgm:pt>
    <dgm:pt modelId="{0BCE74E9-9E8D-4752-8B6C-9B88D1CF09C3}" type="sibTrans" cxnId="{90513496-A01C-45C8-9801-86E4ABBA4503}">
      <dgm:prSet/>
      <dgm:spPr/>
      <dgm:t>
        <a:bodyPr/>
        <a:lstStyle/>
        <a:p>
          <a:endParaRPr lang="en-US"/>
        </a:p>
      </dgm:t>
    </dgm:pt>
    <dgm:pt modelId="{91A6BA37-C878-4BF2-AB3D-0C1C8C2F7AC9}">
      <dgm:prSet/>
      <dgm:spPr/>
      <dgm:t>
        <a:bodyPr/>
        <a:lstStyle/>
        <a:p>
          <a:r>
            <a:rPr lang="en-US"/>
            <a:t>3) How do orders vary across different states?</a:t>
          </a:r>
        </a:p>
      </dgm:t>
    </dgm:pt>
    <dgm:pt modelId="{0B0BC1FF-2588-4F83-97FE-010819ECB824}" type="parTrans" cxnId="{F2E52E61-4FD3-4342-A110-CE9A6C399B0A}">
      <dgm:prSet/>
      <dgm:spPr/>
      <dgm:t>
        <a:bodyPr/>
        <a:lstStyle/>
        <a:p>
          <a:endParaRPr lang="en-US"/>
        </a:p>
      </dgm:t>
    </dgm:pt>
    <dgm:pt modelId="{5E7A51AE-51CB-4DC3-A454-E7B03A0E273F}" type="sibTrans" cxnId="{F2E52E61-4FD3-4342-A110-CE9A6C399B0A}">
      <dgm:prSet/>
      <dgm:spPr/>
      <dgm:t>
        <a:bodyPr/>
        <a:lstStyle/>
        <a:p>
          <a:endParaRPr lang="en-US"/>
        </a:p>
      </dgm:t>
    </dgm:pt>
    <dgm:pt modelId="{A714FB70-4D81-4F56-86BD-84C1EE1336CC}">
      <dgm:prSet/>
      <dgm:spPr/>
      <dgm:t>
        <a:bodyPr/>
        <a:lstStyle/>
        <a:p>
          <a:r>
            <a:rPr lang="en-US"/>
            <a:t>4) What is the average spending amount by marital status?</a:t>
          </a:r>
        </a:p>
      </dgm:t>
    </dgm:pt>
    <dgm:pt modelId="{756EA91B-88AA-4CED-AB9F-0A980EE693EF}" type="parTrans" cxnId="{EF2E639F-74E0-41B8-BF91-EA0BE7DB61E7}">
      <dgm:prSet/>
      <dgm:spPr/>
      <dgm:t>
        <a:bodyPr/>
        <a:lstStyle/>
        <a:p>
          <a:endParaRPr lang="en-US"/>
        </a:p>
      </dgm:t>
    </dgm:pt>
    <dgm:pt modelId="{C7F080D9-C601-48BD-8374-D1F84B838759}" type="sibTrans" cxnId="{EF2E639F-74E0-41B8-BF91-EA0BE7DB61E7}">
      <dgm:prSet/>
      <dgm:spPr/>
      <dgm:t>
        <a:bodyPr/>
        <a:lstStyle/>
        <a:p>
          <a:endParaRPr lang="en-US"/>
        </a:p>
      </dgm:t>
    </dgm:pt>
    <dgm:pt modelId="{57ED35B9-F87D-4020-99ED-83F8B3C03E47}">
      <dgm:prSet/>
      <dgm:spPr/>
      <dgm:t>
        <a:bodyPr/>
        <a:lstStyle/>
        <a:p>
          <a:r>
            <a:rPr lang="en-US"/>
            <a:t>5) Which product category generates the highest sales?</a:t>
          </a:r>
        </a:p>
      </dgm:t>
    </dgm:pt>
    <dgm:pt modelId="{2E52F5AC-7032-4BC1-8DBF-844C9C5A3E2E}" type="parTrans" cxnId="{292919BF-A658-4C74-935D-BCAD250A691B}">
      <dgm:prSet/>
      <dgm:spPr/>
      <dgm:t>
        <a:bodyPr/>
        <a:lstStyle/>
        <a:p>
          <a:endParaRPr lang="en-US"/>
        </a:p>
      </dgm:t>
    </dgm:pt>
    <dgm:pt modelId="{EFACC3A6-15D1-4DAC-991C-9308BBEBDE8D}" type="sibTrans" cxnId="{292919BF-A658-4C74-935D-BCAD250A691B}">
      <dgm:prSet/>
      <dgm:spPr/>
      <dgm:t>
        <a:bodyPr/>
        <a:lstStyle/>
        <a:p>
          <a:endParaRPr lang="en-US"/>
        </a:p>
      </dgm:t>
    </dgm:pt>
    <dgm:pt modelId="{A1995CB8-2AEF-43BB-A013-6432FB8055EB}" type="pres">
      <dgm:prSet presAssocID="{C6F8C789-A05C-4ED9-B7F6-63E4230CBC1B}" presName="linear" presStyleCnt="0">
        <dgm:presLayoutVars>
          <dgm:animLvl val="lvl"/>
          <dgm:resizeHandles val="exact"/>
        </dgm:presLayoutVars>
      </dgm:prSet>
      <dgm:spPr/>
    </dgm:pt>
    <dgm:pt modelId="{F0445555-BE78-4706-BC04-44B8D5633B4F}" type="pres">
      <dgm:prSet presAssocID="{7757608F-D6C7-4010-B5CF-121A0A2BDBA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D4C3BBC-A8D3-4084-B746-B15A3CF162A6}" type="pres">
      <dgm:prSet presAssocID="{18972CB7-3751-4379-B2C8-A1DE8EFAF4B2}" presName="spacer" presStyleCnt="0"/>
      <dgm:spPr/>
    </dgm:pt>
    <dgm:pt modelId="{E57E5BD5-7534-4DCA-8032-46BA0A6B342C}" type="pres">
      <dgm:prSet presAssocID="{5DC5A49F-2887-4BB3-AF11-5E2C24BD141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2997580-B344-4241-A7FC-C8251BECEC37}" type="pres">
      <dgm:prSet presAssocID="{0BCE74E9-9E8D-4752-8B6C-9B88D1CF09C3}" presName="spacer" presStyleCnt="0"/>
      <dgm:spPr/>
    </dgm:pt>
    <dgm:pt modelId="{FC30B444-FF57-4EF9-8AD4-F07B70E920FF}" type="pres">
      <dgm:prSet presAssocID="{91A6BA37-C878-4BF2-AB3D-0C1C8C2F7AC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546F24E-B9B9-4915-B97F-B7EC50691E1A}" type="pres">
      <dgm:prSet presAssocID="{5E7A51AE-51CB-4DC3-A454-E7B03A0E273F}" presName="spacer" presStyleCnt="0"/>
      <dgm:spPr/>
    </dgm:pt>
    <dgm:pt modelId="{5B5C8D9E-3983-487C-916E-2380E5E9F9AA}" type="pres">
      <dgm:prSet presAssocID="{A714FB70-4D81-4F56-86BD-84C1EE1336C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A83F744-CE7A-4D2B-9621-D3AE89C858EF}" type="pres">
      <dgm:prSet presAssocID="{C7F080D9-C601-48BD-8374-D1F84B838759}" presName="spacer" presStyleCnt="0"/>
      <dgm:spPr/>
    </dgm:pt>
    <dgm:pt modelId="{9D440082-EA40-458F-8CD2-907CDB56C7C9}" type="pres">
      <dgm:prSet presAssocID="{57ED35B9-F87D-4020-99ED-83F8B3C03E4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01D5813-8774-4584-AC1A-A0D411CD81A9}" type="presOf" srcId="{5DC5A49F-2887-4BB3-AF11-5E2C24BD141B}" destId="{E57E5BD5-7534-4DCA-8032-46BA0A6B342C}" srcOrd="0" destOrd="0" presId="urn:microsoft.com/office/officeart/2005/8/layout/vList2"/>
    <dgm:cxn modelId="{ACF4375E-E174-48D1-BB66-72DABE56270B}" type="presOf" srcId="{91A6BA37-C878-4BF2-AB3D-0C1C8C2F7AC9}" destId="{FC30B444-FF57-4EF9-8AD4-F07B70E920FF}" srcOrd="0" destOrd="0" presId="urn:microsoft.com/office/officeart/2005/8/layout/vList2"/>
    <dgm:cxn modelId="{F2E52E61-4FD3-4342-A110-CE9A6C399B0A}" srcId="{C6F8C789-A05C-4ED9-B7F6-63E4230CBC1B}" destId="{91A6BA37-C878-4BF2-AB3D-0C1C8C2F7AC9}" srcOrd="2" destOrd="0" parTransId="{0B0BC1FF-2588-4F83-97FE-010819ECB824}" sibTransId="{5E7A51AE-51CB-4DC3-A454-E7B03A0E273F}"/>
    <dgm:cxn modelId="{38637547-EDA3-47F2-979D-7C3CA21BF190}" type="presOf" srcId="{57ED35B9-F87D-4020-99ED-83F8B3C03E47}" destId="{9D440082-EA40-458F-8CD2-907CDB56C7C9}" srcOrd="0" destOrd="0" presId="urn:microsoft.com/office/officeart/2005/8/layout/vList2"/>
    <dgm:cxn modelId="{B84D6D59-330A-472E-AD88-D5272196DC3D}" type="presOf" srcId="{7757608F-D6C7-4010-B5CF-121A0A2BDBA8}" destId="{F0445555-BE78-4706-BC04-44B8D5633B4F}" srcOrd="0" destOrd="0" presId="urn:microsoft.com/office/officeart/2005/8/layout/vList2"/>
    <dgm:cxn modelId="{0822528E-EB11-41AC-B8F9-3A2C5823BA93}" type="presOf" srcId="{C6F8C789-A05C-4ED9-B7F6-63E4230CBC1B}" destId="{A1995CB8-2AEF-43BB-A013-6432FB8055EB}" srcOrd="0" destOrd="0" presId="urn:microsoft.com/office/officeart/2005/8/layout/vList2"/>
    <dgm:cxn modelId="{90513496-A01C-45C8-9801-86E4ABBA4503}" srcId="{C6F8C789-A05C-4ED9-B7F6-63E4230CBC1B}" destId="{5DC5A49F-2887-4BB3-AF11-5E2C24BD141B}" srcOrd="1" destOrd="0" parTransId="{6C0AF4E3-4EA4-414B-BC51-E59FD2D0F328}" sibTransId="{0BCE74E9-9E8D-4752-8B6C-9B88D1CF09C3}"/>
    <dgm:cxn modelId="{EF2E639F-74E0-41B8-BF91-EA0BE7DB61E7}" srcId="{C6F8C789-A05C-4ED9-B7F6-63E4230CBC1B}" destId="{A714FB70-4D81-4F56-86BD-84C1EE1336CC}" srcOrd="3" destOrd="0" parTransId="{756EA91B-88AA-4CED-AB9F-0A980EE693EF}" sibTransId="{C7F080D9-C601-48BD-8374-D1F84B838759}"/>
    <dgm:cxn modelId="{292919BF-A658-4C74-935D-BCAD250A691B}" srcId="{C6F8C789-A05C-4ED9-B7F6-63E4230CBC1B}" destId="{57ED35B9-F87D-4020-99ED-83F8B3C03E47}" srcOrd="4" destOrd="0" parTransId="{2E52F5AC-7032-4BC1-8DBF-844C9C5A3E2E}" sibTransId="{EFACC3A6-15D1-4DAC-991C-9308BBEBDE8D}"/>
    <dgm:cxn modelId="{9885DEBF-9687-4844-AD52-B4D3FC220C8E}" srcId="{C6F8C789-A05C-4ED9-B7F6-63E4230CBC1B}" destId="{7757608F-D6C7-4010-B5CF-121A0A2BDBA8}" srcOrd="0" destOrd="0" parTransId="{B4CC1D5F-60BF-4FD3-AEDC-3F6182E38578}" sibTransId="{18972CB7-3751-4379-B2C8-A1DE8EFAF4B2}"/>
    <dgm:cxn modelId="{B3710DF2-EC2E-489A-AE70-97024B96B396}" type="presOf" srcId="{A714FB70-4D81-4F56-86BD-84C1EE1336CC}" destId="{5B5C8D9E-3983-487C-916E-2380E5E9F9AA}" srcOrd="0" destOrd="0" presId="urn:microsoft.com/office/officeart/2005/8/layout/vList2"/>
    <dgm:cxn modelId="{EF7CB848-F216-4295-A5DB-917A95D3A9BE}" type="presParOf" srcId="{A1995CB8-2AEF-43BB-A013-6432FB8055EB}" destId="{F0445555-BE78-4706-BC04-44B8D5633B4F}" srcOrd="0" destOrd="0" presId="urn:microsoft.com/office/officeart/2005/8/layout/vList2"/>
    <dgm:cxn modelId="{9FD02B12-4781-4694-BA0F-ADE8A79263DA}" type="presParOf" srcId="{A1995CB8-2AEF-43BB-A013-6432FB8055EB}" destId="{0D4C3BBC-A8D3-4084-B746-B15A3CF162A6}" srcOrd="1" destOrd="0" presId="urn:microsoft.com/office/officeart/2005/8/layout/vList2"/>
    <dgm:cxn modelId="{42BF3B8A-3330-4ADA-9236-CCCCC4B6CE22}" type="presParOf" srcId="{A1995CB8-2AEF-43BB-A013-6432FB8055EB}" destId="{E57E5BD5-7534-4DCA-8032-46BA0A6B342C}" srcOrd="2" destOrd="0" presId="urn:microsoft.com/office/officeart/2005/8/layout/vList2"/>
    <dgm:cxn modelId="{52E3FA90-96FE-4B86-A84B-EEEFE5E1564A}" type="presParOf" srcId="{A1995CB8-2AEF-43BB-A013-6432FB8055EB}" destId="{92997580-B344-4241-A7FC-C8251BECEC37}" srcOrd="3" destOrd="0" presId="urn:microsoft.com/office/officeart/2005/8/layout/vList2"/>
    <dgm:cxn modelId="{E26750FF-941A-4139-AC7B-93E26B3C99D5}" type="presParOf" srcId="{A1995CB8-2AEF-43BB-A013-6432FB8055EB}" destId="{FC30B444-FF57-4EF9-8AD4-F07B70E920FF}" srcOrd="4" destOrd="0" presId="urn:microsoft.com/office/officeart/2005/8/layout/vList2"/>
    <dgm:cxn modelId="{3251EEDE-7927-4B6D-86DD-488CBFF96E0D}" type="presParOf" srcId="{A1995CB8-2AEF-43BB-A013-6432FB8055EB}" destId="{C546F24E-B9B9-4915-B97F-B7EC50691E1A}" srcOrd="5" destOrd="0" presId="urn:microsoft.com/office/officeart/2005/8/layout/vList2"/>
    <dgm:cxn modelId="{D9211FC1-4FA6-4DB4-9FE2-C40BB142104A}" type="presParOf" srcId="{A1995CB8-2AEF-43BB-A013-6432FB8055EB}" destId="{5B5C8D9E-3983-487C-916E-2380E5E9F9AA}" srcOrd="6" destOrd="0" presId="urn:microsoft.com/office/officeart/2005/8/layout/vList2"/>
    <dgm:cxn modelId="{75FC38CC-DF4A-4625-BB79-156AC1C1AB7E}" type="presParOf" srcId="{A1995CB8-2AEF-43BB-A013-6432FB8055EB}" destId="{EA83F744-CE7A-4D2B-9621-D3AE89C858EF}" srcOrd="7" destOrd="0" presId="urn:microsoft.com/office/officeart/2005/8/layout/vList2"/>
    <dgm:cxn modelId="{8246B3CA-DA1B-4A25-AEFD-F959C4DA2F98}" type="presParOf" srcId="{A1995CB8-2AEF-43BB-A013-6432FB8055EB}" destId="{9D440082-EA40-458F-8CD2-907CDB56C7C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45555-BE78-4706-BC04-44B8D5633B4F}">
      <dsp:nvSpPr>
        <dsp:cNvPr id="0" name=""/>
        <dsp:cNvSpPr/>
      </dsp:nvSpPr>
      <dsp:spPr>
        <a:xfrm>
          <a:off x="0" y="27491"/>
          <a:ext cx="8071697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1) What is the total amount spent by each age group?</a:t>
          </a:r>
        </a:p>
      </dsp:txBody>
      <dsp:txXfrm>
        <a:off x="21589" y="49080"/>
        <a:ext cx="8028519" cy="399082"/>
      </dsp:txXfrm>
    </dsp:sp>
    <dsp:sp modelId="{E57E5BD5-7534-4DCA-8032-46BA0A6B342C}">
      <dsp:nvSpPr>
        <dsp:cNvPr id="0" name=""/>
        <dsp:cNvSpPr/>
      </dsp:nvSpPr>
      <dsp:spPr>
        <a:xfrm>
          <a:off x="0" y="521591"/>
          <a:ext cx="8071697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2) What is the distribution of orders based on gender?</a:t>
          </a:r>
        </a:p>
      </dsp:txBody>
      <dsp:txXfrm>
        <a:off x="21589" y="543180"/>
        <a:ext cx="8028519" cy="399082"/>
      </dsp:txXfrm>
    </dsp:sp>
    <dsp:sp modelId="{FC30B444-FF57-4EF9-8AD4-F07B70E920FF}">
      <dsp:nvSpPr>
        <dsp:cNvPr id="0" name=""/>
        <dsp:cNvSpPr/>
      </dsp:nvSpPr>
      <dsp:spPr>
        <a:xfrm>
          <a:off x="0" y="1015691"/>
          <a:ext cx="8071697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3) How do orders vary across different states?</a:t>
          </a:r>
        </a:p>
      </dsp:txBody>
      <dsp:txXfrm>
        <a:off x="21589" y="1037280"/>
        <a:ext cx="8028519" cy="399082"/>
      </dsp:txXfrm>
    </dsp:sp>
    <dsp:sp modelId="{5B5C8D9E-3983-487C-916E-2380E5E9F9AA}">
      <dsp:nvSpPr>
        <dsp:cNvPr id="0" name=""/>
        <dsp:cNvSpPr/>
      </dsp:nvSpPr>
      <dsp:spPr>
        <a:xfrm>
          <a:off x="0" y="1509791"/>
          <a:ext cx="8071697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4) What is the average spending amount by marital status?</a:t>
          </a:r>
        </a:p>
      </dsp:txBody>
      <dsp:txXfrm>
        <a:off x="21589" y="1531380"/>
        <a:ext cx="8028519" cy="399082"/>
      </dsp:txXfrm>
    </dsp:sp>
    <dsp:sp modelId="{9D440082-EA40-458F-8CD2-907CDB56C7C9}">
      <dsp:nvSpPr>
        <dsp:cNvPr id="0" name=""/>
        <dsp:cNvSpPr/>
      </dsp:nvSpPr>
      <dsp:spPr>
        <a:xfrm>
          <a:off x="0" y="2003890"/>
          <a:ext cx="8071697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5) Which product category generates the highest sales?</a:t>
          </a:r>
        </a:p>
      </dsp:txBody>
      <dsp:txXfrm>
        <a:off x="21589" y="2025479"/>
        <a:ext cx="8028519" cy="399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524A8-25B3-42F1-B007-A13549CA06C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C7441-3F83-40F0-B157-F2C28DBFA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5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C7441-3F83-40F0-B157-F2C28DBFA6D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680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C7441-3F83-40F0-B157-F2C28DBFA6D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449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C7441-3F83-40F0-B157-F2C28DBFA6D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275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4C2A3-3138-5C56-4204-608AB37AC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C1B78-B8F8-4AC8-FB6B-7FC115FC4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72CB9-10C8-A345-3082-E9806101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A9575-9089-20F7-3DDB-A38B97D6C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71624-F716-ABBE-F9D9-F4CB67C8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2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7C19-2A75-1B0C-64DB-B7174ED0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C2760-DF1A-7165-2A04-B7A9F9BAA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25935-832D-8DB1-75DC-231F86E6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6FB63-1453-F5AB-C566-2569E73E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FED6C-02CD-1D30-8EAE-ED82F243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77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8B9A-3C4B-F2BD-C462-4ACB98B2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A9623-66AC-2F83-3093-101DF13D4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08EF8-7A6D-8C76-EB7A-968002AE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7FD25-6141-4F24-4FEA-C2A1C8F7C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5A62C-5505-A54B-0A43-71AAAE48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897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4C31D-C912-7449-B277-42DE7F36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25A38-3ACA-BAFA-2344-9E977DDE7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196C5-70B9-F883-CEA5-7C8D78473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782A8-9F75-BC0E-19F0-51749EB5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540D0-B509-6401-A69F-8A41DC10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A77D7-1E10-99DC-F6E1-65075030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786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8836-47F6-F5EE-E397-A26DF2D5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17292-A0DF-8D68-2240-475997FDB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AD171-75CB-465B-1899-5320D4CFD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3E9C6-CB56-D176-52A7-383DB4196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C89E7-5582-A298-8E7A-E597AF8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12817C-08AD-8799-0672-ABD6B0A1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73F39C-0D88-7E01-9CAF-09160967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79376-7BD5-4FEF-F7C4-5C7319FD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53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CFEF-E13F-5A37-C0CE-35F53998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B904CB-2ABC-9FB0-92DF-361DC9B8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8562A-5DB0-3708-35C7-878C2FBF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7AF24-8098-3166-4089-94860AD9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70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60BBD-E1F1-855B-1F58-A8520E603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4F46EE-8315-C9D5-4FFE-55A75F97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8A71F-2BE6-049D-3307-0D26ED35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60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F1502-2481-5BD3-C48D-EC48106F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AC2AE-FF22-635E-B85F-15E386C1E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F200D-BA1E-E96D-C81A-95DD94ECF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7BF57-47B4-75C9-9DFD-18CE4E486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FBD5D-E7B4-E0AC-AD37-86C72C0D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854EE-B0E8-92BA-6FAB-59A485A4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71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DBAA-9356-B2FD-598B-E6646C52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E3DE3E-5822-299E-5DAC-055119D4D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504D4-C8E5-D310-56CE-FAE3D3416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4CA98-DA53-FF43-FC16-2A0FD9C3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1E017-7F66-30F8-A0C4-D6CAF6436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0E203-03C0-27BB-0B2A-F7B50048B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94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0B34-E23F-DD59-0886-FDEB8AB1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53017-B5FC-EF38-59BC-6C09CFDF9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00D26-DC27-64A6-F779-4FA29AE4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9B783-8996-4FBE-E532-146E9E7F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7D33A-CC55-8F3E-8D45-B68FC790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37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104BC-6775-2F73-BFBE-A4329A791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9EAA4-FEF9-A879-4209-0E35BC697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C783C-3BE5-91DF-DF0D-A553BCFB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979CB-83A2-C4B0-9B8B-D7839031E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0658F-BC72-AE6A-042B-8CDFDC1A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543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F0335-8A91-F1FD-DD80-1CFE6250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015C-6B86-D714-2340-E393AE3F2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958CA-4A51-04D5-60C8-FC25D2D82C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83BF4-F5B2-4A52-8C6F-8F04D53622C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F096C-72FE-55B8-6477-D388B068A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C1F80-30DB-E3D7-CDAF-E8369B496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B99F9-6109-4A9F-8691-B06CA1E97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90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440FA6E9-3E6F-3A39-7DFF-92FA468A27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0"/>
          </a:blip>
          <a:srcRect t="7625" b="8106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8BCDC2-7809-9310-F10E-40AEA06F02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Store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1B301-2B89-A197-F798-6DA9100BB4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Overview of the store's sales performance to identify key trends and insights.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774D7-BA5F-AF60-4E7A-08A02AD9CF1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726805" y="6372263"/>
            <a:ext cx="1708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420135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3385" y="13128"/>
            <a:ext cx="3620802" cy="6844872"/>
          </a:xfrm>
          <a:prstGeom prst="rect">
            <a:avLst/>
          </a:prstGeom>
          <a:gradFill>
            <a:gsLst>
              <a:gs pos="0">
                <a:srgbClr val="000000">
                  <a:alpha val="72000"/>
                </a:srgbClr>
              </a:gs>
              <a:gs pos="98000">
                <a:schemeClr val="accent1"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07414" y="0"/>
            <a:ext cx="8584585" cy="640079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65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35682F0-7BC6-4526-8BFA-58EA002C8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1348001" y="892771"/>
            <a:ext cx="4675167" cy="5009112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43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alpha val="2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0BC7B-E8CD-8FBD-DFC5-186FEB22B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1803" y="1173480"/>
            <a:ext cx="6598597" cy="1127594"/>
          </a:xfrm>
        </p:spPr>
        <p:txBody>
          <a:bodyPr>
            <a:normAutofit/>
          </a:bodyPr>
          <a:lstStyle/>
          <a:p>
            <a:pPr algn="l"/>
            <a:r>
              <a:rPr lang="en-IN" sz="4800" dirty="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7DC16-00D4-BE09-65EF-D331713FD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803" y="2631339"/>
            <a:ext cx="6598597" cy="2868709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rgbClr val="FFFFFF"/>
                </a:solidFill>
              </a:rPr>
              <a:t>• The purpose of this analysis is to gain urgent insights that can drive business growth.</a:t>
            </a:r>
          </a:p>
          <a:p>
            <a:pPr algn="l"/>
            <a:endParaRPr lang="en-US" sz="2200" dirty="0">
              <a:solidFill>
                <a:srgbClr val="FFFFFF"/>
              </a:solidFill>
            </a:endParaRPr>
          </a:p>
          <a:p>
            <a:pPr algn="l"/>
            <a:r>
              <a:rPr lang="en-US" sz="2200" dirty="0">
                <a:solidFill>
                  <a:srgbClr val="FFFFFF"/>
                </a:solidFill>
              </a:rPr>
              <a:t>• The insights will guide strategies to optimize sales, target potential customer     segments, and enhance overall performance in the market.</a:t>
            </a:r>
            <a:endParaRPr lang="en-IN" sz="2200" dirty="0">
              <a:solidFill>
                <a:srgbClr val="FFFFFF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F0DF0F3-0179-4A8A-92E0-932C473DA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89" y="13127"/>
            <a:ext cx="3620804" cy="6387672"/>
          </a:xfrm>
          <a:prstGeom prst="rect">
            <a:avLst/>
          </a:prstGeom>
          <a:gradFill>
            <a:gsLst>
              <a:gs pos="25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5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Camera lens close up">
            <a:extLst>
              <a:ext uri="{FF2B5EF4-FFF2-40B4-BE49-F238E27FC236}">
                <a16:creationId xmlns:a16="http://schemas.microsoft.com/office/drawing/2014/main" id="{610F3F93-D096-95B9-683C-EAD7AE415C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5655" r="40392" b="2"/>
          <a:stretch/>
        </p:blipFill>
        <p:spPr>
          <a:xfrm>
            <a:off x="1037820" y="896184"/>
            <a:ext cx="2569597" cy="5051526"/>
          </a:xfrm>
          <a:custGeom>
            <a:avLst/>
            <a:gdLst/>
            <a:ahLst/>
            <a:cxnLst/>
            <a:rect l="l" t="t" r="r" b="b"/>
            <a:pathLst>
              <a:path w="2569597" h="5051526">
                <a:moveTo>
                  <a:pt x="2525763" y="0"/>
                </a:moveTo>
                <a:lnTo>
                  <a:pt x="2569597" y="2214"/>
                </a:lnTo>
                <a:lnTo>
                  <a:pt x="2569597" y="5049313"/>
                </a:lnTo>
                <a:lnTo>
                  <a:pt x="2525763" y="5051526"/>
                </a:lnTo>
                <a:cubicBezTo>
                  <a:pt x="1130823" y="5051526"/>
                  <a:pt x="0" y="3920703"/>
                  <a:pt x="0" y="2525763"/>
                </a:cubicBezTo>
                <a:cubicBezTo>
                  <a:pt x="0" y="1130823"/>
                  <a:pt x="1130823" y="0"/>
                  <a:pt x="2525763" y="0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1A2402-D7CD-D91B-1782-575E41967DCD}"/>
              </a:ext>
            </a:extLst>
          </p:cNvPr>
          <p:cNvSpPr txBox="1"/>
          <p:nvPr/>
        </p:nvSpPr>
        <p:spPr>
          <a:xfrm>
            <a:off x="10369899" y="6467734"/>
            <a:ext cx="1708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25432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C01AA-0C79-09ED-D017-8B59EFEE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949325"/>
            <a:ext cx="8071706" cy="79819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Questions for Insight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Subtitle 2">
            <a:extLst>
              <a:ext uri="{FF2B5EF4-FFF2-40B4-BE49-F238E27FC236}">
                <a16:creationId xmlns:a16="http://schemas.microsoft.com/office/drawing/2014/main" id="{6FAF0B56-CA42-43B5-FB93-5C739842A5A5}"/>
              </a:ext>
            </a:extLst>
          </p:cNvPr>
          <p:cNvGraphicFramePr/>
          <p:nvPr/>
        </p:nvGraphicFramePr>
        <p:xfrm>
          <a:off x="1932903" y="2631440"/>
          <a:ext cx="8071697" cy="24736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5F2A5CC-D6C0-C28A-F91D-1F308C0FC704}"/>
              </a:ext>
            </a:extLst>
          </p:cNvPr>
          <p:cNvSpPr txBox="1"/>
          <p:nvPr/>
        </p:nvSpPr>
        <p:spPr>
          <a:xfrm>
            <a:off x="10369899" y="6467734"/>
            <a:ext cx="1708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840648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38544B-4B3B-D374-5E87-02AEB8CA4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Age Group Insights: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Focus marketing on the 26-35 age group, as they contribute most to sales. Allocate resources effectively for the 36-45 and 18-25 groups while investigating lower sales from older demographics.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Gender Analysis: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Target female customers who drive the majority of orders, while exploring strategies to increase male engagement and understand gender-based preferences for product offerings.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State-based Analysis: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Prioritize marketing and inventory in Uttar Pradesh, Maharashtra, and Karnataka, while investigating underperforming states like Bihar, Jharkhand, and Rajasthan to improve sales.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Marital Status Spending Behavior: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Focus on offering premium, family-oriented products to married individuals, and provide flexible pricing and promotions for singles, catering to a wider range of spending behaviors.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Product Category Performance: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Continue focusing on high-performing categories like Food, Clothing, and Electronics, while boosting sales in the lower-performing Furniture category through discounts and targeted promotions.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C965F-8DC9-B63E-0769-50726BFF2865}"/>
              </a:ext>
            </a:extLst>
          </p:cNvPr>
          <p:cNvSpPr txBox="1"/>
          <p:nvPr/>
        </p:nvSpPr>
        <p:spPr>
          <a:xfrm>
            <a:off x="10369899" y="6467734"/>
            <a:ext cx="1708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Dharmesh Parmar</a:t>
            </a:r>
          </a:p>
        </p:txBody>
      </p:sp>
    </p:spTree>
    <p:extLst>
      <p:ext uri="{BB962C8B-B14F-4D97-AF65-F5344CB8AC3E}">
        <p14:creationId xmlns:p14="http://schemas.microsoft.com/office/powerpoint/2010/main" val="1242592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Envelope">
            <a:extLst>
              <a:ext uri="{FF2B5EF4-FFF2-40B4-BE49-F238E27FC236}">
                <a16:creationId xmlns:a16="http://schemas.microsoft.com/office/drawing/2014/main" id="{EC4F6CAB-CF58-C29E-D487-5CAAC6788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D62EF3-3E41-606D-3995-CCE17508ECD3}"/>
              </a:ext>
            </a:extLst>
          </p:cNvPr>
          <p:cNvSpPr txBox="1"/>
          <p:nvPr/>
        </p:nvSpPr>
        <p:spPr>
          <a:xfrm>
            <a:off x="5596502" y="2405894"/>
            <a:ext cx="5754896" cy="31974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Thank You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Project by Dharmesh Parmar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Contact Information:</a:t>
            </a:r>
            <a:br>
              <a:rPr lang="en-US" sz="2000"/>
            </a:br>
            <a:r>
              <a:rPr lang="en-US" sz="2000"/>
              <a:t>For inquiries or further discussion:</a:t>
            </a:r>
            <a:br>
              <a:rPr lang="en-US" sz="2000"/>
            </a:br>
            <a:r>
              <a:rPr lang="en-US" sz="2000" b="1"/>
              <a:t>Email:</a:t>
            </a:r>
            <a:r>
              <a:rPr lang="en-US" sz="2000"/>
              <a:t> dhparmar2119@gmail.com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72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322</Words>
  <Application>Microsoft Office PowerPoint</Application>
  <PresentationFormat>Widescreen</PresentationFormat>
  <Paragraphs>27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Store Sales Analysis</vt:lpstr>
      <vt:lpstr>Objective</vt:lpstr>
      <vt:lpstr>Key Questions for Insight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Dharmesh Parmar</dc:creator>
  <cp:lastModifiedBy>Dharmesh Parmar</cp:lastModifiedBy>
  <cp:revision>2</cp:revision>
  <dcterms:created xsi:type="dcterms:W3CDTF">2025-04-19T15:10:00Z</dcterms:created>
  <dcterms:modified xsi:type="dcterms:W3CDTF">2025-12-03T10:23:24Z</dcterms:modified>
</cp:coreProperties>
</file>